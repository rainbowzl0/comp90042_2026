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98755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2900" b="1">
                <a:solidFill>
                  <a:srgbClr val="263238"/>
                </a:solidFill>
                <a:latin typeface="Aptos"/>
              </a:rPr>
              <a:t>Final Climate-Claim Fact-Checking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41832"/>
            <a:ext cx="777240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607D8B"/>
                </a:solidFill>
                <a:latin typeface="Aptos"/>
              </a:rPr>
              <a:t>Group 56 | v13 final system | retrieval-then-classification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1772" y="2830068"/>
            <a:ext cx="1609344" cy="1444752"/>
          </a:xfrm>
          <a:prstGeom prst="roundRect">
            <a:avLst>
              <a:gd name="adj" fmla="val 8000"/>
            </a:avLst>
          </a:prstGeom>
          <a:solidFill>
            <a:srgbClr val="DC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9768" y="2798064"/>
            <a:ext cx="1609344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145">
            <a:solidFill>
              <a:srgbClr val="4E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" y="2798064"/>
            <a:ext cx="1609344" cy="329184"/>
          </a:xfrm>
          <a:prstGeom prst="roundRect">
            <a:avLst>
              <a:gd name="adj" fmla="val 8000"/>
            </a:avLst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768" y="2979115"/>
            <a:ext cx="1609344" cy="148132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2848356"/>
            <a:ext cx="1408176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Input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73552"/>
            <a:ext cx="1389888" cy="8961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Climate-science
statement to verify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18004" y="2830068"/>
            <a:ext cx="1609344" cy="1444752"/>
          </a:xfrm>
          <a:prstGeom prst="roundRect">
            <a:avLst>
              <a:gd name="adj" fmla="val 8000"/>
            </a:avLst>
          </a:prstGeom>
          <a:solidFill>
            <a:srgbClr val="DC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2798064"/>
            <a:ext cx="1609344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145">
            <a:solidFill>
              <a:srgbClr val="59A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6000" y="2798064"/>
            <a:ext cx="1609344" cy="329184"/>
          </a:xfrm>
          <a:prstGeom prst="roundRect">
            <a:avLst>
              <a:gd name="adj" fmla="val 8000"/>
            </a:avLst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2979115"/>
            <a:ext cx="1609344" cy="148132"/>
          </a:xfrm>
          <a:prstGeom prst="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95728" y="2848356"/>
            <a:ext cx="1408176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Sparse Ret.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4872" y="3273552"/>
            <a:ext cx="1389888" cy="8961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lowercase + stopwords
+ Porter stemming
BM25 k1=1.2, b=0.5
Top-500 candidates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74236" y="2830068"/>
            <a:ext cx="1609344" cy="1444752"/>
          </a:xfrm>
          <a:prstGeom prst="roundRect">
            <a:avLst>
              <a:gd name="adj" fmla="val 8000"/>
            </a:avLst>
          </a:prstGeom>
          <a:solidFill>
            <a:srgbClr val="DC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42232" y="2798064"/>
            <a:ext cx="1609344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145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42232" y="2798064"/>
            <a:ext cx="1609344" cy="329184"/>
          </a:xfrm>
          <a:prstGeom prst="roundRect">
            <a:avLst>
              <a:gd name="adj" fmla="val 8000"/>
            </a:avLst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42232" y="2979115"/>
            <a:ext cx="1609344" cy="148132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2848356"/>
            <a:ext cx="1408176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Reranker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1104" y="3273552"/>
            <a:ext cx="1389888" cy="8961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MiniLM-L-12
cross-encoder
20,610 train pairs
Best epoch: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0468" y="2830068"/>
            <a:ext cx="1609344" cy="1444752"/>
          </a:xfrm>
          <a:prstGeom prst="roundRect">
            <a:avLst>
              <a:gd name="adj" fmla="val 8000"/>
            </a:avLst>
          </a:prstGeom>
          <a:solidFill>
            <a:srgbClr val="DC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98464" y="2798064"/>
            <a:ext cx="1609344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145">
            <a:solidFill>
              <a:srgbClr val="76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98464" y="2798064"/>
            <a:ext cx="1609344" cy="329184"/>
          </a:xfrm>
          <a:prstGeom prst="roundRect">
            <a:avLst>
              <a:gd name="adj" fmla="val 8000"/>
            </a:avLst>
          </a:prstGeom>
          <a:solidFill>
            <a:srgbClr val="76B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98464" y="2979115"/>
            <a:ext cx="1609344" cy="148132"/>
          </a:xfrm>
          <a:prstGeom prst="rect">
            <a:avLst/>
          </a:prstGeom>
          <a:solidFill>
            <a:srgbClr val="76B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8192" y="2848356"/>
            <a:ext cx="1408176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Evidence Sel.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17336" y="3273552"/>
            <a:ext cx="1389888" cy="8961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Relative-delta
delta = 1.5
Claim-local logits
Avg selected: 4.05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86700" y="2830068"/>
            <a:ext cx="1609344" cy="1444752"/>
          </a:xfrm>
          <a:prstGeom prst="roundRect">
            <a:avLst>
              <a:gd name="adj" fmla="val 8000"/>
            </a:avLst>
          </a:prstGeom>
          <a:solidFill>
            <a:srgbClr val="DC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54696" y="2798064"/>
            <a:ext cx="1609344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145">
            <a:solidFill>
              <a:srgbClr val="B07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54696" y="2798064"/>
            <a:ext cx="1609344" cy="329184"/>
          </a:xfrm>
          <a:prstGeom prst="roundRect">
            <a:avLst>
              <a:gd name="adj" fmla="val 8000"/>
            </a:avLst>
          </a:prstGeom>
          <a:solidFill>
            <a:srgbClr val="B07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54696" y="2979115"/>
            <a:ext cx="1609344" cy="148132"/>
          </a:xfrm>
          <a:prstGeom prst="rect">
            <a:avLst/>
          </a:prstGeom>
          <a:solidFill>
            <a:srgbClr val="B07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4" y="2848356"/>
            <a:ext cx="1408176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Classifier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3568" y="3273552"/>
            <a:ext cx="1389888" cy="8961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MiniLM-MARCO
cross-encoder
Claim + selected
evidence; no weights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42932" y="2830068"/>
            <a:ext cx="1609344" cy="1444752"/>
          </a:xfrm>
          <a:prstGeom prst="roundRect">
            <a:avLst>
              <a:gd name="adj" fmla="val 8000"/>
            </a:avLst>
          </a:prstGeom>
          <a:solidFill>
            <a:srgbClr val="DC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710928" y="2798064"/>
            <a:ext cx="1609344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145">
            <a:solidFill>
              <a:srgbClr val="E15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10928" y="2798064"/>
            <a:ext cx="1609344" cy="329184"/>
          </a:xfrm>
          <a:prstGeom prst="roundRect">
            <a:avLst>
              <a:gd name="adj" fmla="val 8000"/>
            </a:avLst>
          </a:prstGeom>
          <a:solidFill>
            <a:srgbClr val="E15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10928" y="2979115"/>
            <a:ext cx="1609344" cy="148132"/>
          </a:xfrm>
          <a:prstGeom prst="rect">
            <a:avLst/>
          </a:prstGeom>
          <a:solidFill>
            <a:srgbClr val="E15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0656" y="2848356"/>
            <a:ext cx="1408176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3273552"/>
            <a:ext cx="1389888" cy="8961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claim_label
+ evidence IDs
SUPPORTS / REFUTES
NEI / DISPUTED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066543" y="3520440"/>
            <a:ext cx="192025" cy="0"/>
          </a:xfrm>
          <a:prstGeom prst="line">
            <a:avLst/>
          </a:prstGeom>
          <a:ln w="19050">
            <a:solidFill>
              <a:srgbClr val="45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906524" y="3227832"/>
            <a:ext cx="512064" cy="2011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900" b="0">
                <a:solidFill>
                  <a:srgbClr val="607D8B"/>
                </a:solidFill>
                <a:latin typeface="Aptos"/>
              </a:rPr>
              <a:t>top-500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922776" y="3520440"/>
            <a:ext cx="192024" cy="0"/>
          </a:xfrm>
          <a:prstGeom prst="line">
            <a:avLst/>
          </a:prstGeom>
          <a:ln w="19050">
            <a:solidFill>
              <a:srgbClr val="45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762755" y="3227832"/>
            <a:ext cx="512064" cy="2011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900" b="0">
                <a:solidFill>
                  <a:srgbClr val="607D8B"/>
                </a:solidFill>
                <a:latin typeface="Aptos"/>
              </a:rPr>
              <a:t>scored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779008" y="3520440"/>
            <a:ext cx="192024" cy="0"/>
          </a:xfrm>
          <a:prstGeom prst="line">
            <a:avLst/>
          </a:prstGeom>
          <a:ln w="19050">
            <a:solidFill>
              <a:srgbClr val="45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18988" y="3227832"/>
            <a:ext cx="512064" cy="2011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900" b="0">
                <a:solidFill>
                  <a:srgbClr val="607D8B"/>
                </a:solidFill>
                <a:latin typeface="Aptos"/>
              </a:rPr>
              <a:t>selected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635240" y="3520440"/>
            <a:ext cx="192024" cy="0"/>
          </a:xfrm>
          <a:prstGeom prst="line">
            <a:avLst/>
          </a:prstGeom>
          <a:ln w="19050">
            <a:solidFill>
              <a:srgbClr val="45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475220" y="3227832"/>
            <a:ext cx="512064" cy="2011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900" b="0">
                <a:solidFill>
                  <a:srgbClr val="607D8B"/>
                </a:solidFill>
                <a:latin typeface="Aptos"/>
              </a:rPr>
              <a:t>read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491472" y="3520440"/>
            <a:ext cx="192024" cy="0"/>
          </a:xfrm>
          <a:prstGeom prst="line">
            <a:avLst/>
          </a:prstGeom>
          <a:ln w="19050">
            <a:solidFill>
              <a:srgbClr val="45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331452" y="3227832"/>
            <a:ext cx="512064" cy="2011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900" b="0">
                <a:solidFill>
                  <a:srgbClr val="607D8B"/>
                </a:solidFill>
                <a:latin typeface="Aptos"/>
              </a:rPr>
              <a:t>JSON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03604" y="4823460"/>
            <a:ext cx="2240280" cy="932688"/>
          </a:xfrm>
          <a:prstGeom prst="roundRect">
            <a:avLst>
              <a:gd name="adj" fmla="val 8000"/>
            </a:avLst>
          </a:prstGeom>
          <a:solidFill>
            <a:srgbClr val="DC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371600" y="4791456"/>
            <a:ext cx="224028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145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71600" y="4791456"/>
            <a:ext cx="2240280" cy="329184"/>
          </a:xfrm>
          <a:prstGeom prst="roundRect">
            <a:avLst>
              <a:gd name="adj" fmla="val 8000"/>
            </a:avLst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371600" y="4972507"/>
            <a:ext cx="2240280" cy="148132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81328" y="4841748"/>
            <a:ext cx="2039112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Evidence Corpus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90472" y="5266944"/>
            <a:ext cx="2020824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263238"/>
                </a:solidFill>
                <a:latin typeface="Aptos"/>
              </a:rPr>
              <a:t>1,208,827 passages
course-supplied corpus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2514600" y="4261104"/>
            <a:ext cx="656539" cy="420624"/>
          </a:xfrm>
          <a:prstGeom prst="line">
            <a:avLst/>
          </a:prstGeom>
          <a:ln w="19050">
            <a:solidFill>
              <a:srgbClr val="45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586837" y="4178808"/>
            <a:ext cx="512064" cy="2011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900" b="0">
                <a:solidFill>
                  <a:srgbClr val="607D8B"/>
                </a:solidFill>
                <a:latin typeface="Aptos"/>
              </a:rPr>
              <a:t>candidate source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14800" y="4617720"/>
            <a:ext cx="324612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15968" y="4828032"/>
            <a:ext cx="288036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263238"/>
                </a:solidFill>
                <a:latin typeface="Aptos"/>
              </a:rPr>
              <a:t>Sequential Greedy Ablation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15968" y="5230368"/>
            <a:ext cx="2926080" cy="5486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1. sparse retrieval by recall@500
2. one reranker on best BM25 pool
3. evidence selection by dev F
4. classifier backbone + weighting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680960" y="4617720"/>
            <a:ext cx="3749039" cy="1325880"/>
          </a:xfrm>
          <a:prstGeom prst="roundRect">
            <a:avLst>
              <a:gd name="adj" fmla="val 5000"/>
            </a:avLst>
          </a:prstGeom>
          <a:solidFill>
            <a:srgbClr val="ECEFF1"/>
          </a:solidFill>
          <a:ln w="1397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82127" y="4828032"/>
            <a:ext cx="315468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263238"/>
                </a:solidFill>
                <a:latin typeface="Aptos"/>
              </a:rPr>
              <a:t>Development Performance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82127" y="5230368"/>
            <a:ext cx="160020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263238"/>
                </a:solidFill>
                <a:latin typeface="Aptos"/>
              </a:rPr>
              <a:t>Evidence F = 0.2448
Label A = 0.4805
Harmonic H = 0.3243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46920" y="5230368"/>
            <a:ext cx="1463040" cy="4114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930" b="0">
                <a:solidFill>
                  <a:srgbClr val="8E2F2F"/>
                </a:solidFill>
                <a:latin typeface="Aptos"/>
              </a:rPr>
              <a:t>Main limitation:
SUPPORTS bias
REFUTES recall = 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1207" y="6327648"/>
            <a:ext cx="1005840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950" b="0">
                <a:solidFill>
                  <a:srgbClr val="607D8B"/>
                </a:solidFill>
                <a:latin typeface="Aptos"/>
              </a:rPr>
              <a:t>Design note: dense/LLM experiments are omitted from the final pipeline; the submitted system uses open-source pretrained models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